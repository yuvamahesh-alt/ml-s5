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65A8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65A82"/>
                </a:solidFill>
                <a:latin typeface="Calibri"/>
              </a:rPr>
              <a:t>Model Accuracy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630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Decision Tree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62.8</c:v>
                </c:pt>
                <c:pt idx="1">
                  <c:v>57.77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630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30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2EE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A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286000"/>
            <a:ext cx="6400800" cy="6400800"/>
          </a:xfrm>
          <a:prstGeom prst="ellipse">
            <a:avLst/>
          </a:prstGeom>
          <a:solidFill>
            <a:srgbClr val="0B6E9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0F7FAF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0B6E9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ANALYSIS  •  B.TECH MINI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Classification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Logistic Regression and Decision Trees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Learning–Based Approach to Classifying Water Potability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0607040" cy="137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892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Yuva Mahesh — 2520030336
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Shloka — 2520030334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0" y="4892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
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Rani Mam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Automated Water-Quality Classification?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to safe drinking water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9280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potability directly affects public health, making reliable quality assessment essential.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517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 is slow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94436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lab-based analysis of chemical parameters does not scale to large or continuous monitoring needs.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data-driven alternative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99592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learn patterns from measured water-quality parameters to classify samples quickly.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1600200"/>
            <a:ext cx="4846320" cy="4160520"/>
          </a:xfrm>
          <a:prstGeom prst="roundRect">
            <a:avLst>
              <a:gd name="adj" fmla="val 2637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86600" y="2286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water samples as Potable or Not Potable using machine learning, based on measured water-quality parameters.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086600" y="3429000"/>
            <a:ext cx="4206240" cy="10973"/>
          </a:xfrm>
          <a:prstGeom prst="rect">
            <a:avLst/>
          </a:prstGeom>
          <a:solidFill>
            <a:srgbClr val="3A8AAE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3611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CLASSIFICATION ALGORITHMS IMPLEMENTED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86600" y="397764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0B6E9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Logistic Regression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86600" y="470916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0B6E9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4709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Decision Tree Classifier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5468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Potable  vs.  Not Potable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AF5F7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3,276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5544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AF5F7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4612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AF5F7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94360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41080" y="155448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AF5F7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6276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41080" y="2194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(X)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063240" y="324612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0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577840" y="324612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2461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67912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679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Chloramines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63240" y="3867912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38679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3867912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8679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489704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4897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063240" y="4489704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44897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Trihalomethanes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77840" y="4489704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48970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288036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8458200" y="31089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58200" y="3401568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Potability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8458200" y="397764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0B6E9C"/>
          </a:solidFill>
          <a:ln/>
        </p:spPr>
      </p:sp>
      <p:sp>
        <p:nvSpPr>
          <p:cNvPr id="39" name="Text 37"/>
          <p:cNvSpPr/>
          <p:nvPr/>
        </p:nvSpPr>
        <p:spPr>
          <a:xfrm>
            <a:off x="864108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=  Not Potable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458200" y="4572000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8641080" y="4572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=  Potable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58200" y="52120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present in: pH, Sulfate, Trihalomethanes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842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72384" y="18516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27832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64992" y="19842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51576" y="18516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7024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016752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44184" y="19842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Missing Values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30768" y="185166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86216" y="160020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695944" y="16733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23376" y="198424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Imputation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081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Potability Distribution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72384" y="29489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27832" y="269748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364992" y="3081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/ Target Split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51576" y="29489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07024" y="269748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44184" y="3081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30768" y="294894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86216" y="2697480"/>
            <a:ext cx="2514600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695944" y="27706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23376" y="308152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794760"/>
            <a:ext cx="11018520" cy="1965960"/>
          </a:xfrm>
          <a:prstGeom prst="roundRect">
            <a:avLst>
              <a:gd name="adj" fmla="val 4651"/>
            </a:avLst>
          </a:prstGeom>
          <a:solidFill>
            <a:srgbClr val="EAF5F7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0965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402336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pH, Sulfate and Trihalomethanes filled using the respective column mean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77240" y="448056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44074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split: 80% training, 20% testing (random_state = 42)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77240" y="486460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1005840" y="4791456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for Logistic Regression features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77240" y="524865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5175504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trained on original (unscaled) train / test feature values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 Implemented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521208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model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classify each water sample as Potable or Not Potable based on a linear combination of the input features.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StandardScaler-scaled features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consistent parameter ranges.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389120"/>
            <a:ext cx="4572000" cy="9144"/>
          </a:xfrm>
          <a:prstGeom prst="rect">
            <a:avLst/>
          </a:prstGeom>
          <a:solidFill>
            <a:srgbClr val="E2EEF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smooth probability boundary between classes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69164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0" y="2148840"/>
            <a:ext cx="52120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6916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Classifier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20840" y="26517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model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classifies each sample through a series of if-else splits on the water-quality parameters.
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(unscaled) feature values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also visualized to interpret splits.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720840" y="4389120"/>
            <a:ext cx="4572000" cy="9144"/>
          </a:xfrm>
          <a:prstGeom prst="rect">
            <a:avLst/>
          </a:prstGeom>
          <a:solidFill>
            <a:srgbClr val="E2EEF1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4800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interpretable, rule-based decision paths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B6E9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019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72384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46120" y="173736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B6E9C"/>
          </a:solidFill>
          <a:ln/>
        </p:spPr>
      </p:sp>
      <p:sp>
        <p:nvSpPr>
          <p:cNvPr id="10" name="Shape 8"/>
          <p:cNvSpPr/>
          <p:nvPr/>
        </p:nvSpPr>
        <p:spPr>
          <a:xfrm>
            <a:off x="3410712" y="19019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9864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0" y="173736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B6E9C"/>
          </a:solidFill>
          <a:ln/>
        </p:spPr>
      </p:sp>
      <p:sp>
        <p:nvSpPr>
          <p:cNvPr id="15" name="Shape 13"/>
          <p:cNvSpPr/>
          <p:nvPr/>
        </p:nvSpPr>
        <p:spPr>
          <a:xfrm>
            <a:off x="6108192" y="19019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108192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80760" y="2331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67344" y="21945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41080" y="173736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B6E9C"/>
          </a:solidFill>
          <a:ln/>
        </p:spPr>
      </p:sp>
      <p:sp>
        <p:nvSpPr>
          <p:cNvPr id="20" name="Shape 18"/>
          <p:cNvSpPr/>
          <p:nvPr/>
        </p:nvSpPr>
        <p:spPr>
          <a:xfrm>
            <a:off x="8805672" y="190195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805672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778240" y="23317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3685032"/>
            <a:ext cx="365760" cy="3657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(LR + Decision Tree)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072384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46120" y="35204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B6E9C"/>
          </a:solidFill>
          <a:ln/>
        </p:spPr>
      </p:sp>
      <p:sp>
        <p:nvSpPr>
          <p:cNvPr id="29" name="Shape 27"/>
          <p:cNvSpPr/>
          <p:nvPr/>
        </p:nvSpPr>
        <p:spPr>
          <a:xfrm>
            <a:off x="3410712" y="36850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3410712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383280" y="4114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769864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943600" y="35204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B6E9C"/>
          </a:solidFill>
          <a:ln/>
        </p:spPr>
      </p:sp>
      <p:sp>
        <p:nvSpPr>
          <p:cNvPr id="34" name="Shape 32"/>
          <p:cNvSpPr/>
          <p:nvPr/>
        </p:nvSpPr>
        <p:spPr>
          <a:xfrm>
            <a:off x="6108192" y="36850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6108192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080760" y="4114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467344" y="39776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641080" y="352044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0B6E9C"/>
          </a:solidFill>
          <a:ln/>
        </p:spPr>
      </p:sp>
      <p:sp>
        <p:nvSpPr>
          <p:cNvPr id="39" name="Shape 37"/>
          <p:cNvSpPr/>
          <p:nvPr/>
        </p:nvSpPr>
        <p:spPr>
          <a:xfrm>
            <a:off x="8805672" y="368503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0" name="Text 38"/>
          <p:cNvSpPr/>
          <p:nvPr/>
        </p:nvSpPr>
        <p:spPr>
          <a:xfrm>
            <a:off x="8805672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778240" y="411480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Sample Prediction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74420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4360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— Confusion Matrices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using Accuracy, Classification Report, and Confusion Matrix  •  Test set size: 656 samples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9476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8760" y="22219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22219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Potable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08760" y="2697480"/>
            <a:ext cx="1417320" cy="68580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26080" y="2697480"/>
            <a:ext cx="1417320" cy="685800"/>
          </a:xfrm>
          <a:prstGeom prst="rect">
            <a:avLst/>
          </a:prstGeom>
          <a:solidFill>
            <a:srgbClr val="F1F6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08760" y="3383280"/>
            <a:ext cx="1417320" cy="685800"/>
          </a:xfrm>
          <a:prstGeom prst="rect">
            <a:avLst/>
          </a:prstGeom>
          <a:solidFill>
            <a:srgbClr val="F1F6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3832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926080" y="3383280"/>
            <a:ext cx="1417320" cy="685800"/>
          </a:xfrm>
          <a:prstGeom prst="rect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33832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0.63  •  Precision (Not Potable): 0.63  •  Recall (Not Potable): 1.00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69480" y="19476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69480" y="22219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686800" y="22219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269748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Potable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69480" y="2697480"/>
            <a:ext cx="1417320" cy="68580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686800" y="2697480"/>
            <a:ext cx="1417320" cy="685800"/>
          </a:xfrm>
          <a:prstGeom prst="rect">
            <a:avLst/>
          </a:prstGeom>
          <a:solidFill>
            <a:srgbClr val="F1F6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26974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63640" y="338328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69480" y="3383280"/>
            <a:ext cx="1417320" cy="685800"/>
          </a:xfrm>
          <a:prstGeom prst="rect">
            <a:avLst/>
          </a:prstGeom>
          <a:solidFill>
            <a:srgbClr val="F1F6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33832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686800" y="3383280"/>
            <a:ext cx="1417320" cy="685800"/>
          </a:xfrm>
          <a:prstGeom prst="rect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33832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0936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0.58  •  Precision (Potable): 0.44  •  Recall (Potable): 0.51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Model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126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00200"/>
            <a:ext cx="4617720" cy="1737360"/>
          </a:xfrm>
          <a:prstGeom prst="roundRect">
            <a:avLst>
              <a:gd name="adj" fmla="val 6316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810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223760" y="21031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achieved the higher accuracy among the two tested models.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949440" y="3520440"/>
            <a:ext cx="4617720" cy="2148840"/>
          </a:xfrm>
          <a:prstGeom prst="roundRect">
            <a:avLst>
              <a:gd name="adj" fmla="val 5106"/>
            </a:avLst>
          </a:prstGeom>
          <a:solidFill>
            <a:srgbClr val="EAF5F7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2376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ACCURACY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223760" y="40233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reports and confusion matrices were also examined to evaluate precision, recall and F1-score for each class — not accuracy alone.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223760" y="5029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model shows production-level or certified reliability in this experiment.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Water Sample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10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762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17627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77063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98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277063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798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Chloramines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339242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19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339242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4198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Conductivity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4014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0416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Carbon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4014216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40416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Trihalomethanes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4636008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A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
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3383280"/>
            <a:ext cx="777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25" name="Shape 23"/>
          <p:cNvSpPr/>
          <p:nvPr/>
        </p:nvSpPr>
        <p:spPr>
          <a:xfrm>
            <a:off x="7040880" y="160020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8105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22402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B6E9C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23957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43800" y="26974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6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POTABLE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315200" y="37947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0B6E9C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39502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43800" y="4251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POTABLE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548640" y="60807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5F7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6080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algorithms can produce different predictions for the same input, as each learns patterns differently. This is an academic demonstration, not a certified drinking-water safety test.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 Visualization &amp;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VISUALIZATION SETTINGS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feature_names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542032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13345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4203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class_names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13345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918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["Not Potable", "Potable"]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856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04164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13345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41648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791456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13345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79145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2852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(visualization)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541264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13345A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54126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6080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max_depth = 3 applies to this visualization of the tree, not necessarily to the trained model's full depth.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INSIGHTS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21031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29400" y="2029968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2029968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 classifies samples through rule-based splits on the water-quality parameters, offering a transparent decision path.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34290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29400" y="3355848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3355848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tree helps interpret which parameters and thresholds most influence the potability decision.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47548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4754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29400" y="4681728"/>
            <a:ext cx="48463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FE7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4681728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Decision Tree can disagree on the same sample, showing that model choice affects real predictions.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560320"/>
            <a:ext cx="5943600" cy="5943600"/>
          </a:xfrm>
          <a:prstGeom prst="ellipse">
            <a:avLst/>
          </a:prstGeom>
          <a:solidFill>
            <a:srgbClr val="0B6E9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0B6E9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0B4E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1579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031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was applied to classify water samples as Potable or Not Potable.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779776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2491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Decision Tree classifiers were implemented and compared.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401568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4670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achieved 62.80% accuracy; Decision Tree achieved 57.77%.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023360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9684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performed better based on accuracy in this experiment.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6451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9028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covers preprocessing, classification, evaluation, visualization, comparison, and prediction.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0B4E70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21579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1031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additional classification algorithms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66090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60604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316382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31089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class imbalance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366674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36118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and more diverse datasets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416966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114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 user-friendly interface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4672584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6177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trained model as an application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2026-08-20T03:28:39Z</dcterms:created>
  <dcterms:modified xsi:type="dcterms:W3CDTF">2026-08-20T03:28:39Z</dcterms:modified>
</cp:coreProperties>
</file>